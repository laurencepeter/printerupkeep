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>
                <a:solidFill>
                  <a:srgbClr val="123A6B"/>
                </a:solidFill>
              </a:rPr>
              <a:t>Pending vs Completed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dPt>
            <c:idx val="0"/>
            <c:spPr>
              <a:solidFill>
                <a:srgbClr val="129E8F"/>
              </a:solidFill>
            </c:spPr>
          </c:dPt>
          <c:dPt>
            <c:idx val="1"/>
            <c:spPr>
              <a:solidFill>
                <a:srgbClr val="E09A1B"/>
              </a:solidFill>
            </c:spPr>
          </c:dPt>
          <c:dPt>
            <c:idx val="2"/>
            <c:spPr>
              <a:solidFill>
                <a:srgbClr val="C74A3B"/>
              </a:solidFill>
            </c:spPr>
          </c:dPt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Pending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23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23A6B"/>
                </a:solidFill>
              </a:rPr>
              <a:t>Monthly requests — received vs completed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Received</c:v>
                </c:pt>
              </c:strCache>
            </c:strRef>
          </c:tx>
          <c:spPr>
            <a:solidFill>
              <a:srgbClr val="1E63B4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34</c:v>
                </c:pt>
                <c:pt idx="2">
                  <c:v>30</c:v>
                </c:pt>
                <c:pt idx="3">
                  <c:v>39</c:v>
                </c:pt>
                <c:pt idx="4">
                  <c:v>44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129E8F"/>
            </a:solidFill>
          </c:spPr>
          <c:cat>
            <c:strRef>
              <c:f>Sheet1!$A$2:$A$7</c:f>
              <c:strCache>
                <c:ptCount val="6"/>
                <c:pt idx="0">
                  <c:v>Feb</c:v>
                </c:pt>
                <c:pt idx="1">
                  <c:v>Mar</c:v>
                </c:pt>
                <c:pt idx="2">
                  <c:v>Apr</c:v>
                </c:pt>
                <c:pt idx="3">
                  <c:v>May</c:v>
                </c:pt>
                <c:pt idx="4">
                  <c:v>Jun</c:v>
                </c:pt>
                <c:pt idx="5">
                  <c:v>Jul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</c:v>
                </c:pt>
                <c:pt idx="1">
                  <c:v>31</c:v>
                </c:pt>
                <c:pt idx="2">
                  <c:v>29</c:v>
                </c:pt>
                <c:pt idx="3">
                  <c:v>35</c:v>
                </c:pt>
                <c:pt idx="4">
                  <c:v>41</c:v>
                </c:pt>
                <c:pt idx="5">
                  <c:v>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Received</a:t>
            </a:r>
          </a:p>
        </p:txBody>
      </p:sp>
      <p:sp>
        <p:nvSpPr>
          <p:cNvPr id="5" name="Chevron 4"/>
          <p:cNvSpPr/>
          <p:nvPr/>
        </p:nvSpPr>
        <p:spPr>
          <a:xfrm>
            <a:off x="2057399" y="5376672"/>
            <a:ext cx="128016" cy="219456"/>
          </a:xfrm>
          <a:prstGeom prst="chevron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67128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Vendor</a:t>
            </a:r>
          </a:p>
        </p:txBody>
      </p:sp>
      <p:sp>
        <p:nvSpPr>
          <p:cNvPr id="7" name="Chevron 6"/>
          <p:cNvSpPr/>
          <p:nvPr/>
        </p:nvSpPr>
        <p:spPr>
          <a:xfrm>
            <a:off x="3401567" y="5376672"/>
            <a:ext cx="128016" cy="219456"/>
          </a:xfrm>
          <a:prstGeom prst="chevron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11296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Quote</a:t>
            </a:r>
          </a:p>
        </p:txBody>
      </p:sp>
      <p:sp>
        <p:nvSpPr>
          <p:cNvPr id="9" name="Chevron 8"/>
          <p:cNvSpPr/>
          <p:nvPr/>
        </p:nvSpPr>
        <p:spPr>
          <a:xfrm>
            <a:off x="4745735" y="5376672"/>
            <a:ext cx="128016" cy="219456"/>
          </a:xfrm>
          <a:prstGeom prst="chevron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55464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Accounts</a:t>
            </a:r>
          </a:p>
        </p:txBody>
      </p:sp>
      <p:sp>
        <p:nvSpPr>
          <p:cNvPr id="11" name="Chevron 10"/>
          <p:cNvSpPr/>
          <p:nvPr/>
        </p:nvSpPr>
        <p:spPr>
          <a:xfrm>
            <a:off x="6089903" y="5376672"/>
            <a:ext cx="128016" cy="219456"/>
          </a:xfrm>
          <a:prstGeom prst="chevron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13" name="Chevron 12"/>
          <p:cNvSpPr/>
          <p:nvPr/>
        </p:nvSpPr>
        <p:spPr>
          <a:xfrm>
            <a:off x="7434071" y="5376672"/>
            <a:ext cx="128016" cy="219456"/>
          </a:xfrm>
          <a:prstGeom prst="chevron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PO</a:t>
            </a:r>
          </a:p>
        </p:txBody>
      </p:sp>
      <p:sp>
        <p:nvSpPr>
          <p:cNvPr id="15" name="Chevron 14"/>
          <p:cNvSpPr/>
          <p:nvPr/>
        </p:nvSpPr>
        <p:spPr>
          <a:xfrm>
            <a:off x="8778239" y="5376672"/>
            <a:ext cx="128016" cy="219456"/>
          </a:xfrm>
          <a:prstGeom prst="chevron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87968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WIP</a:t>
            </a:r>
          </a:p>
        </p:txBody>
      </p:sp>
      <p:sp>
        <p:nvSpPr>
          <p:cNvPr id="17" name="Chevron 16"/>
          <p:cNvSpPr/>
          <p:nvPr/>
        </p:nvSpPr>
        <p:spPr>
          <a:xfrm>
            <a:off x="10122407" y="5376672"/>
            <a:ext cx="128016" cy="219456"/>
          </a:xfrm>
          <a:prstGeom prst="chevron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32136" y="5257800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9E8F"/>
                </a:solidFill>
                <a:latin typeface="Calibri"/>
              </a:rPr>
              <a:t>PROJECT PROPOSAL  ·  ICT 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8288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ICT Printer Upkeep &amp;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Procurement Tracking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661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2F5FA"/>
                </a:solidFill>
                <a:latin typeface="Calibri"/>
              </a:rPr>
              <a:t>Recommended requirements, open-source technology stack, hosting &amp; team plan — with a live pipeline view so we always know where every request is stuck.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Prepared for: Ministry ICT Management    ·    Date: 9 July 2026    ·    Status: For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The problem we are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F1E33"/>
                </a:solidFill>
                <a:latin typeface="Calibri"/>
              </a:rPr>
              <a:t>Printer repairs &amp; procurement pass through many hands — ICT, vendors, Accounts, General Administration. Today no one can say, at a glance, </a:t>
            </a:r>
            <a:r>
              <a:rPr sz="1500" b="1">
                <a:solidFill>
                  <a:srgbClr val="C74A3B"/>
                </a:solidFill>
                <a:latin typeface="Calibri"/>
              </a:rPr>
              <a:t>where a request is stuck.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109728" cy="114300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No single source of 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157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Requests tracked in email, spreadsheets and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4884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109728" cy="114300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134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Invisible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7157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Weeks lost waiting on a quote or an approval — noticed too late.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6616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566160"/>
            <a:ext cx="109728" cy="114300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307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3308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Who changed what, and when? Hard to answer, easy to dispute.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66160"/>
            <a:ext cx="5394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566160"/>
            <a:ext cx="109728" cy="114300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No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13308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Cost, vendor performance and repair times are guesswork.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49240"/>
            <a:ext cx="11201400" cy="960120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THE 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Know exactly where every printer request is in the process, at all times — and see it stall before it becomes a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One system, the whole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0F1E33"/>
                </a:solidFill>
                <a:latin typeface="Calibri"/>
              </a:rPr>
              <a:t>A single web application that follows a request from intake to close, with a visual pipeline everyone can read.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2221992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79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Pipeline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175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Colour-coded stage tracker on every ticket — and a division-wide board — so blockages are obvious.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2221992"/>
            <a:ext cx="310896" cy="310896"/>
          </a:xfrm>
          <a:prstGeom prst="ellipse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679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0175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Pending vs completed counters, average completion time, and graphs by month, department &amp; vendor.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8472" y="2221992"/>
            <a:ext cx="310896" cy="310896"/>
          </a:xfrm>
          <a:prstGeom prst="ellipse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679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Full 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0175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Every change records old value, new value, who and when — nothing overwritten.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4096512"/>
            <a:ext cx="310896" cy="310896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553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Asset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8920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Owned &amp; leased printers, warranty, maintenance history — ready to grow into full ICT asset mgmt.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84048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4096512"/>
            <a:ext cx="310896" cy="310896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4553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Approvals built 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8920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Quotations, requisitions, Accounts &amp; GA sign-off, purchase orders — all in one flow.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840480"/>
            <a:ext cx="36118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8472" y="4096512"/>
            <a:ext cx="310896" cy="310896"/>
          </a:xfrm>
          <a:prstGeom prst="ellipse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4553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3A6B"/>
                </a:solidFill>
                <a:latin typeface="Calibri"/>
              </a:rPr>
              <a:t>Everything exports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489204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686"/>
                </a:solidFill>
                <a:latin typeface="Calibri"/>
              </a:rPr>
              <a:t>CSV, Excel, PDF, JSON — data is portable into any future enterprise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Recommended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5440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3A6B"/>
                </a:solidFill>
                <a:latin typeface="Calibri"/>
              </a:rPr>
              <a:t>FUNCTIONAL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47088"/>
            <a:ext cx="4800600" cy="1524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0391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011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Ticket intake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dropdown-driven form, auto ticket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5877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5603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Workflow stages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13-stage lifecycle, forward &amp; backward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" y="3108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Pipeline / process view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for all users (see slide 07)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85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6576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Approvals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Quotation → Requisition → Accounts → GA → 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233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4206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Printer register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owned/leased, warranty, service 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Vendors &amp; departments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CRUD with duplicate prevention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30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53035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Reports &amp; exports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CSV / Excel / PDF / JSON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280160"/>
            <a:ext cx="54406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3A6B"/>
                </a:solidFill>
                <a:latin typeface="Calibri"/>
              </a:rPr>
              <a:t>NON-FUNCTIONAL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1847088"/>
            <a:ext cx="4800600" cy="1524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20391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2011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Role-based access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Admin · ICT Officer · Viewer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5877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25603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Audit logging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every field change, immutable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13639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310896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Dashboard &amp; graphs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pending vs completed, trends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3685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85432" y="36576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Attachments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quotes, delivery notes (20 MB default)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23367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5432" y="42062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Responsive web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desktop-first, dark &amp; light mode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78231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47548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Data portability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no lock-in; standard formats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3309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53035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3"/>
                </a:solidFill>
                <a:latin typeface="Calibri"/>
              </a:rPr>
              <a:t>Future-ready — </a:t>
            </a:r>
            <a:r>
              <a:rPr sz="1350" b="0">
                <a:solidFill>
                  <a:srgbClr val="6B7686"/>
                </a:solidFill>
                <a:latin typeface="Calibri"/>
              </a:rPr>
              <a:t>SSO/OIDC hook, extend to other assets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Recommended stack — 100% open-source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5720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264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42646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4264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42646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LICENSE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783080"/>
            <a:ext cx="112014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019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19019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Flutter (Material 3) + Riverpod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9019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BSD-3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190195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72284"/>
            <a:ext cx="11201400" cy="489204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39115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Backend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39115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Node.js 22 + TypeScript,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39115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04120" y="239115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61488"/>
            <a:ext cx="112014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880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28803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8803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PostgreSQL Lic.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288036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250692"/>
            <a:ext cx="11201400" cy="489204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36956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Web 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3695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369564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BSD-2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36956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739896"/>
            <a:ext cx="112014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587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85876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JWT (SSO/OIDC-ready)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385876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MIT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385876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229100"/>
            <a:ext cx="11201400" cy="489204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34797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Packaging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63240" y="434797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Docker + Docker Compose (Engine CE)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34797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Apache-2.0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43479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18304"/>
            <a:ext cx="11201400" cy="4892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83717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Operating system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48371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Ubuntu Server LTS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83717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Free / GPL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483717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207508"/>
            <a:ext cx="11201400" cy="489204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3263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3A6B"/>
                </a:solidFill>
                <a:latin typeface="Calibri"/>
              </a:rPr>
              <a:t>TLS certificate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3240" y="532638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Let's Encrypt / internal 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3263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3"/>
                </a:solidFill>
                <a:latin typeface="Calibri"/>
              </a:rPr>
              <a:t>Free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04120" y="532638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1325880"/>
            <a:ext cx="11201400" cy="4370832"/>
          </a:xfrm>
          <a:prstGeom prst="rect">
            <a:avLst/>
          </a:prstGeom>
          <a:noFill/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E33"/>
                </a:solidFill>
                <a:latin typeface="Calibri"/>
              </a:rPr>
              <a:t>Total recurring software-licensing cost:  </a:t>
            </a:r>
            <a:r>
              <a:rPr sz="1500" b="1">
                <a:solidFill>
                  <a:srgbClr val="129E8F"/>
                </a:solidFill>
                <a:latin typeface="Calibri"/>
              </a:rPr>
              <a:t>$0</a:t>
            </a:r>
            <a:r>
              <a:rPr sz="1350" b="0">
                <a:solidFill>
                  <a:srgbClr val="6B7686"/>
                </a:solidFill>
                <a:latin typeface="Calibri"/>
              </a:rPr>
              <a:t>   — no per-seat fees, no vendor lock-in, no renewal surprises.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Why this stack is the right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276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No licensing cost, ever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299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Every component is free and open-source — budget goes to people and hosting, not licences.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No vendor lock-in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299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Open standards and plain-SQL data mean we can move hosts or export everything at any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9718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278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Runs entirely on-premise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301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Fits the ministry's own servers and network policy — data never has to leave the building.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718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29718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2278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Small, boring, proven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301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PostgreSQL, Node and nginx run a huge share of the internet — easy to hire for and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720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5720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280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One command to 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303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Docker Compose brings up the whole stack; migrations run automatically on start.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572000"/>
            <a:ext cx="5440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4572000"/>
            <a:ext cx="5440680" cy="9144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82803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23A6B"/>
                </a:solidFill>
                <a:latin typeface="Calibri"/>
              </a:rPr>
              <a:t>Grows with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30368"/>
            <a:ext cx="4892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686"/>
                </a:solidFill>
                <a:latin typeface="Calibri"/>
              </a:rPr>
              <a:t>Same codebase extends from printers to full ICT asset management — no rewrite.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FLAGSHIP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Pipeline view — see where it's stuck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0F1E33"/>
                </a:solidFill>
                <a:latin typeface="Calibri"/>
              </a:rPr>
              <a:t>A live board of every stage with a count of tickets waiting there. Bottlenecks light up in amber/red so we act </a:t>
            </a:r>
            <a:r>
              <a:rPr sz="1450" b="1">
                <a:solidFill>
                  <a:srgbClr val="C74A3B"/>
                </a:solidFill>
                <a:latin typeface="Calibri"/>
              </a:rPr>
              <a:t>immediately</a:t>
            </a:r>
            <a:r>
              <a:rPr sz="1450" b="0">
                <a:solidFill>
                  <a:srgbClr val="0F1E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3298371"/>
            <a:ext cx="804672" cy="404948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9E8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Received</a:t>
            </a:r>
          </a:p>
        </p:txBody>
      </p:sp>
      <p:sp>
        <p:nvSpPr>
          <p:cNvPr id="14" name="Chevron 13"/>
          <p:cNvSpPr/>
          <p:nvPr/>
        </p:nvSpPr>
        <p:spPr>
          <a:xfrm>
            <a:off x="1645920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41932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4812" y="3095897"/>
            <a:ext cx="804672" cy="607422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1932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9E8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7652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Vendor
Contacted</a:t>
            </a:r>
          </a:p>
        </p:txBody>
      </p:sp>
      <p:sp>
        <p:nvSpPr>
          <p:cNvPr id="19" name="Chevron 18"/>
          <p:cNvSpPr/>
          <p:nvPr/>
        </p:nvSpPr>
        <p:spPr>
          <a:xfrm>
            <a:off x="2884932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80944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3824" y="2690948"/>
            <a:ext cx="804672" cy="1012371"/>
          </a:xfrm>
          <a:prstGeom prst="roundRect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A1B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Quotation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4123944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19956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02836" y="3298371"/>
            <a:ext cx="804672" cy="404948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9956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E63B4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5676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Requisition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5362956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58968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41848" y="2286000"/>
            <a:ext cx="804672" cy="141732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8968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74A3B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Accounts</a:t>
            </a:r>
          </a:p>
        </p:txBody>
      </p:sp>
      <p:sp>
        <p:nvSpPr>
          <p:cNvPr id="34" name="Chevron 33"/>
          <p:cNvSpPr/>
          <p:nvPr/>
        </p:nvSpPr>
        <p:spPr>
          <a:xfrm>
            <a:off x="6601968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97980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80860" y="2893422"/>
            <a:ext cx="804672" cy="809897"/>
          </a:xfrm>
          <a:prstGeom prst="roundRect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7980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9A1B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3700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GA Approval</a:t>
            </a:r>
          </a:p>
        </p:txBody>
      </p:sp>
      <p:sp>
        <p:nvSpPr>
          <p:cNvPr id="39" name="Chevron 38"/>
          <p:cNvSpPr/>
          <p:nvPr/>
        </p:nvSpPr>
        <p:spPr>
          <a:xfrm>
            <a:off x="7840980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936992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19872" y="3500845"/>
            <a:ext cx="804672" cy="202474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36992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E63B4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2712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PO Issued</a:t>
            </a:r>
          </a:p>
        </p:txBody>
      </p:sp>
      <p:sp>
        <p:nvSpPr>
          <p:cNvPr id="44" name="Chevron 43"/>
          <p:cNvSpPr/>
          <p:nvPr/>
        </p:nvSpPr>
        <p:spPr>
          <a:xfrm>
            <a:off x="9079992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76004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58884" y="3095897"/>
            <a:ext cx="804672" cy="607422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6004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E63B4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1724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Vendor WIP</a:t>
            </a:r>
          </a:p>
        </p:txBody>
      </p:sp>
      <p:sp>
        <p:nvSpPr>
          <p:cNvPr id="49" name="Chevron 48"/>
          <p:cNvSpPr/>
          <p:nvPr/>
        </p:nvSpPr>
        <p:spPr>
          <a:xfrm>
            <a:off x="10319004" y="2971800"/>
            <a:ext cx="109728" cy="201168"/>
          </a:xfrm>
          <a:prstGeom prst="chevron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415016" y="1965960"/>
            <a:ext cx="1170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597896" y="2488474"/>
            <a:ext cx="804672" cy="1214845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15016" y="2103120"/>
            <a:ext cx="11704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9E8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0736" y="3776472"/>
            <a:ext cx="10789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0F1E33"/>
                </a:solidFill>
                <a:latin typeface="Calibri"/>
              </a:rPr>
              <a:t>Completed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69080" y="4434840"/>
            <a:ext cx="1280160" cy="310896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69080" y="4480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BOTTLENECK</a:t>
            </a:r>
          </a:p>
        </p:txBody>
      </p:sp>
      <p:sp>
        <p:nvSpPr>
          <p:cNvPr id="56" name="Oval 55"/>
          <p:cNvSpPr/>
          <p:nvPr/>
        </p:nvSpPr>
        <p:spPr>
          <a:xfrm>
            <a:off x="502920" y="5102352"/>
            <a:ext cx="201168" cy="201168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0749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Done / healthy</a:t>
            </a:r>
          </a:p>
        </p:txBody>
      </p:sp>
      <p:sp>
        <p:nvSpPr>
          <p:cNvPr id="58" name="Oval 57"/>
          <p:cNvSpPr/>
          <p:nvPr/>
        </p:nvSpPr>
        <p:spPr>
          <a:xfrm>
            <a:off x="2834640" y="5102352"/>
            <a:ext cx="201168" cy="201168"/>
          </a:xfrm>
          <a:prstGeom prst="ellipse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50749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Current / moving</a:t>
            </a:r>
          </a:p>
        </p:txBody>
      </p:sp>
      <p:sp>
        <p:nvSpPr>
          <p:cNvPr id="60" name="Oval 59"/>
          <p:cNvSpPr/>
          <p:nvPr/>
        </p:nvSpPr>
        <p:spPr>
          <a:xfrm>
            <a:off x="5166360" y="5102352"/>
            <a:ext cx="201168" cy="201168"/>
          </a:xfrm>
          <a:prstGeom prst="ellipse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40680" y="50749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Waiting</a:t>
            </a:r>
          </a:p>
        </p:txBody>
      </p:sp>
      <p:sp>
        <p:nvSpPr>
          <p:cNvPr id="62" name="Oval 61"/>
          <p:cNvSpPr/>
          <p:nvPr/>
        </p:nvSpPr>
        <p:spPr>
          <a:xfrm>
            <a:off x="7498080" y="5102352"/>
            <a:ext cx="201168" cy="201168"/>
          </a:xfrm>
          <a:prstGeom prst="ellipse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0" y="50749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Stuck / blocked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2920" y="5623560"/>
            <a:ext cx="11201400" cy="777240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74243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29E8F"/>
                </a:solidFill>
                <a:latin typeface="Calibri"/>
              </a:rPr>
              <a:t>Available to everyone, not just admins. </a:t>
            </a:r>
            <a:r>
              <a:rPr sz="1400" b="0">
                <a:solidFill>
                  <a:srgbClr val="FFFFFF"/>
                </a:solidFill>
                <a:latin typeface="Calibri"/>
              </a:rPr>
              <a:t>Only ICT staff use this system, so every signed-in user sees the pipeline and can flag a stall — no gatekeeping the one view that prevents delays.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ADMIN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Pending vs completed, with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91440" cy="960120"/>
          </a:xfrm>
          <a:prstGeom prst="roundRect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371600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E09A1B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01952"/>
            <a:ext cx="150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7686"/>
                </a:solidFill>
                <a:latin typeface="Calibri"/>
              </a:rPr>
              <a:t>OPEN / PENDING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1" y="128016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42031" y="1280160"/>
            <a:ext cx="91440" cy="96012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8063" y="1371600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9E8F"/>
                </a:solidFill>
                <a:latin typeface="Calibri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3" y="1901952"/>
            <a:ext cx="150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7686"/>
                </a:solidFill>
                <a:latin typeface="Calibri"/>
              </a:rPr>
              <a:t>COMPLETED (MO.)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2" y="128016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2" y="1280160"/>
            <a:ext cx="91440" cy="960120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7174" y="1371600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E63B4"/>
                </a:solidFill>
                <a:latin typeface="Calibri"/>
              </a:rPr>
              <a:t>6.4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4" y="1901952"/>
            <a:ext cx="150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7686"/>
                </a:solidFill>
                <a:latin typeface="Calibri"/>
              </a:rPr>
              <a:t>AVG. COMPLETION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0253" y="1280160"/>
            <a:ext cx="187451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0253" y="1280160"/>
            <a:ext cx="91440" cy="960120"/>
          </a:xfrm>
          <a:prstGeom prst="roundRect">
            <a:avLst/>
          </a:prstGeom>
          <a:solidFill>
            <a:srgbClr val="C7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5" y="1371600"/>
            <a:ext cx="1508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C74A3B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5" y="1901952"/>
            <a:ext cx="1508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6B7686"/>
                </a:solidFill>
                <a:latin typeface="Calibri"/>
              </a:rPr>
              <a:t>BLOCKED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02920" y="2514600"/>
          <a:ext cx="356616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343400" y="2514600"/>
          <a:ext cx="73609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Audit logs — who changed what,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16152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E33"/>
                </a:solidFill>
                <a:latin typeface="Calibri"/>
              </a:rPr>
              <a:t>Every create, update and stage change writes an immutable row: entity, field, old value, new value, user and timestamp. Nothing is ever overwritten — the full history is always recoverable.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48640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E63B4"/>
                </a:solidFill>
                <a:latin typeface="Calibri"/>
              </a:rPr>
              <a:t>—  </a:t>
            </a:r>
            <a:r>
              <a:rPr sz="1350" b="1">
                <a:solidFill>
                  <a:srgbClr val="0F1E33"/>
                </a:solidFill>
                <a:latin typeface="Calibri"/>
              </a:rPr>
              <a:t>Field-level diffs</a:t>
            </a:r>
            <a:r>
              <a:rPr sz="1350">
                <a:solidFill>
                  <a:srgbClr val="6B7686"/>
                </a:solidFill>
                <a:latin typeface="Calibri"/>
              </a:rPr>
              <a:t>  one row per changed field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E63B4"/>
                </a:solidFill>
                <a:latin typeface="Calibri"/>
              </a:rPr>
              <a:t>—  </a:t>
            </a:r>
            <a:r>
              <a:rPr sz="1350" b="1">
                <a:solidFill>
                  <a:srgbClr val="0F1E33"/>
                </a:solidFill>
                <a:latin typeface="Calibri"/>
              </a:rPr>
              <a:t>Filterable</a:t>
            </a:r>
            <a:r>
              <a:rPr sz="1350">
                <a:solidFill>
                  <a:srgbClr val="6B7686"/>
                </a:solidFill>
                <a:latin typeface="Calibri"/>
              </a:rPr>
              <a:t>  by entity, user or date, from the admin dashboard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E63B4"/>
                </a:solidFill>
                <a:latin typeface="Calibri"/>
              </a:rPr>
              <a:t>—  </a:t>
            </a:r>
            <a:r>
              <a:rPr sz="1350" b="1">
                <a:solidFill>
                  <a:srgbClr val="0F1E33"/>
                </a:solidFill>
                <a:latin typeface="Calibri"/>
              </a:rPr>
              <a:t>Immutable</a:t>
            </a:r>
            <a:r>
              <a:rPr sz="1350">
                <a:solidFill>
                  <a:srgbClr val="6B7686"/>
                </a:solidFill>
                <a:latin typeface="Calibri"/>
              </a:rPr>
              <a:t>  history is append-only, never edited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E63B4"/>
                </a:solidFill>
                <a:latin typeface="Calibri"/>
              </a:rPr>
              <a:t>—  </a:t>
            </a:r>
            <a:r>
              <a:rPr sz="1350" b="1">
                <a:solidFill>
                  <a:srgbClr val="0F1E33"/>
                </a:solidFill>
                <a:latin typeface="Calibri"/>
              </a:rPr>
              <a:t>Recent-activity feed</a:t>
            </a:r>
            <a:r>
              <a:rPr sz="1350">
                <a:solidFill>
                  <a:srgbClr val="6B7686"/>
                </a:solidFill>
                <a:latin typeface="Calibri"/>
              </a:rPr>
              <a:t>  live stream on the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80160"/>
            <a:ext cx="53492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280160"/>
            <a:ext cx="5349240" cy="411480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62456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3794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09:14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379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A. Mwangi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1226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Ticket ICT-2026-000142   </a:t>
            </a:r>
            <a:r>
              <a:rPr sz="1100" b="0">
                <a:solidFill>
                  <a:srgbClr val="129E8F"/>
                </a:solidFill>
                <a:latin typeface="Calibri"/>
              </a:rPr>
              <a:t>stage → Sent to Accounts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478024"/>
            <a:ext cx="5166360" cy="658368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5328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09:02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5328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J. Otieno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Quotation   </a:t>
            </a:r>
            <a:r>
              <a:rPr sz="1100" b="0">
                <a:solidFill>
                  <a:srgbClr val="129E8F"/>
                </a:solidFill>
                <a:latin typeface="Calibri"/>
              </a:rPr>
              <a:t>amount  1,200 → 1,150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2783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08:47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278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A. Mwangi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0215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Ticket ICT-2026-000141   </a:t>
            </a:r>
            <a:r>
              <a:rPr sz="1100" b="0">
                <a:solidFill>
                  <a:srgbClr val="129E8F"/>
                </a:solidFill>
                <a:latin typeface="Calibri"/>
              </a:rPr>
              <a:t>vendor → PrintCare Ltd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3867912"/>
            <a:ext cx="5166360" cy="658368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92277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08:31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9227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S. Kamau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97096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Printer P-0087   </a:t>
            </a:r>
            <a:r>
              <a:rPr sz="1100" b="0">
                <a:solidFill>
                  <a:srgbClr val="129E8F"/>
                </a:solidFill>
                <a:latin typeface="Calibri"/>
              </a:rPr>
              <a:t>status  active → repair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6177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Yest.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617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J. Otieno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9204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Requisition REQ-2026-0031   </a:t>
            </a:r>
            <a:r>
              <a:rPr sz="1100" b="0">
                <a:solidFill>
                  <a:srgbClr val="129E8F"/>
                </a:solidFill>
                <a:latin typeface="Calibri"/>
              </a:rPr>
              <a:t>created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5257800"/>
            <a:ext cx="5166360" cy="658368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312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686"/>
                </a:solidFill>
                <a:latin typeface="Calibri"/>
              </a:rPr>
              <a:t>Yest.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3126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58698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F1E33"/>
                </a:solidFill>
                <a:latin typeface="Calibri"/>
              </a:rPr>
              <a:t>User b.achieng   </a:t>
            </a:r>
            <a:r>
              <a:rPr sz="1100" b="0">
                <a:solidFill>
                  <a:srgbClr val="129E8F"/>
                </a:solidFill>
                <a:latin typeface="Calibri"/>
              </a:rPr>
              <a:t>role  Viewer → ICT Officer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Hosting requirements (internal)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E33"/>
                </a:solidFill>
                <a:latin typeface="Calibri"/>
              </a:rPr>
              <a:t>Small workload — up to ~25 ICT users. One modest VM runs all three containers (PostgreSQL + API + web). No GPU, cache or message queue.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3520440" cy="566928"/>
          </a:xfrm>
          <a:prstGeom prst="roundRect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Minimum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84831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2 vCPU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8152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4 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58444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7033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40 GB SSD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206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206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Linux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59028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709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100 Mbps 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09320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43400" y="196596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1965960"/>
            <a:ext cx="3520440" cy="566928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2084831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Recommended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084831"/>
            <a:ext cx="1051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comfort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CPU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26974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4 vCPU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308152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2004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RAM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200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8 GB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358444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37033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Disk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7033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100 GB SSD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408736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420624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4206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Ubuntu LTS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459028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B7686"/>
                </a:solidFill>
                <a:latin typeface="Calibri"/>
              </a:rPr>
              <a:t>Backups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47091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3"/>
                </a:solidFill>
                <a:latin typeface="Calibri"/>
              </a:rPr>
              <a:t>nightly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5093208"/>
            <a:ext cx="2971800" cy="127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83879" y="1965960"/>
            <a:ext cx="3520440" cy="3291840"/>
          </a:xfrm>
          <a:prstGeom prst="roundRect">
            <a:avLst/>
          </a:prstGeom>
          <a:solidFill>
            <a:srgbClr val="123A6B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199" y="21488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What it needs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199" y="2606040"/>
            <a:ext cx="3017520" cy="2560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>
                <a:solidFill>
                  <a:srgbClr val="FFFFFF"/>
                </a:solidFill>
                <a:latin typeface="Calibri"/>
              </a:rPr>
              <a:t>Two Docker volumes to back up: database + attachments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>
                <a:solidFill>
                  <a:srgbClr val="FFFFFF"/>
                </a:solidFill>
                <a:latin typeface="Calibri"/>
              </a:rPr>
              <a:t>Nightly pg_dump + volume copy (cron)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>
                <a:solidFill>
                  <a:srgbClr val="FFFFFF"/>
                </a:solidFill>
                <a:latin typeface="Calibri"/>
              </a:rPr>
              <a:t>TLS terminated at existing reverse proxy / load balancer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>
                <a:solidFill>
                  <a:srgbClr val="FFFFFF"/>
                </a:solidFill>
                <a:latin typeface="Calibri"/>
              </a:rPr>
              <a:t>Health endpoint for uptime monitoring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>
                <a:solidFill>
                  <a:srgbClr val="FFFFFF"/>
                </a:solidFill>
                <a:latin typeface="Calibri"/>
              </a:rPr>
              <a:t>~1 GB storage per 1,000 attachments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COSTING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Software &amp; licensing — the easy 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840480" cy="4754880"/>
          </a:xfrm>
          <a:prstGeom prst="roundRect">
            <a:avLst/>
          </a:prstGeom>
          <a:solidFill>
            <a:srgbClr val="123A6B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80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recurring software &amp;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licensing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720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Calibri"/>
              </a:rPr>
              <a:t>Flutter, Node.js, PostgreSQL, nginx, Docker and Linux are all free &amp; open-source. No per-seat fees. No renewals.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371600"/>
            <a:ext cx="7040880" cy="411480"/>
          </a:xfrm>
          <a:prstGeom prst="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44475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4447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14447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783080"/>
            <a:ext cx="7040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18836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Flutter (frontend framework)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836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BSD-3-Clause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8836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240280"/>
            <a:ext cx="7040880" cy="457200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3408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Node.js + TypeScript (backend)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3408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MIT / Apache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23408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2697480"/>
            <a:ext cx="7040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27980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PostgreSQL 16 (database)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980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PostgreSQL License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27980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154680"/>
            <a:ext cx="7040880" cy="457200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32552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nginx (web server)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2552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BSD-2-Clause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32552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3611880"/>
            <a:ext cx="7040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37124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Docker Engine CE + Compose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124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Apache-2.0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37124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4069080"/>
            <a:ext cx="7040880" cy="457200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41696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Ubuntu Server 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1696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Free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41696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526280"/>
            <a:ext cx="7040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46268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Let's Encrypt TLS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6268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46268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4983480"/>
            <a:ext cx="7040880" cy="457200"/>
          </a:xfrm>
          <a:prstGeom prst="rect">
            <a:avLst/>
          </a:prstGeom>
          <a:solidFill>
            <a:srgbClr val="E7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2040" y="50840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E33"/>
                </a:solidFill>
                <a:latin typeface="Calibri"/>
              </a:rPr>
              <a:t>All app libraries (Riverpod, zod…)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508406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686"/>
                </a:solidFill>
                <a:latin typeface="Calibri"/>
              </a:rPr>
              <a:t>MIT / BSD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5084064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29E8F"/>
                </a:solidFill>
                <a:latin typeface="Calibri"/>
              </a:rPr>
              <a:t>$0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5440680"/>
            <a:ext cx="7040880" cy="50292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92040" y="55504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TOTAL — software licensing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52760" y="5541264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$0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COSTING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Where the real budget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B7686"/>
                </a:solidFill>
                <a:latin typeface="Calibri"/>
              </a:rPr>
              <a:t>Cost is people and hosting, not licences. Indicative figures — apply local rates; on-prem on existing hardware is close to zero marginal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828800"/>
            <a:ext cx="3611880" cy="822960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476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Internal hosting (recommended)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≈ $0–600</a:t>
            </a:r>
            <a:r>
              <a:rPr sz="1100" b="0">
                <a:solidFill>
                  <a:srgbClr val="F2F5FA"/>
                </a:solidFill>
                <a:latin typeface="Calibri"/>
              </a:rPr>
              <a:t>  / 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310896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63B4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On existing hypervisor</a:t>
            </a:r>
            <a:r>
              <a:rPr sz="1150">
                <a:solidFill>
                  <a:srgbClr val="6B7686"/>
                </a:solidFill>
                <a:latin typeface="Calibri"/>
              </a:rPr>
              <a:t>  1 VM = chargeback only, often ~$0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63B4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If a new small server</a:t>
            </a:r>
            <a:r>
              <a:rPr sz="1150">
                <a:solidFill>
                  <a:srgbClr val="6B7686"/>
                </a:solidFill>
                <a:latin typeface="Calibri"/>
              </a:rPr>
              <a:t>  ~$40–50/mo cloud-equiv.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63B4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Backups</a:t>
            </a:r>
            <a:r>
              <a:rPr sz="1150">
                <a:solidFill>
                  <a:srgbClr val="6B7686"/>
                </a:solidFill>
                <a:latin typeface="Calibri"/>
              </a:rPr>
              <a:t>  existing ministry backup — negligible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E63B4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TLS</a:t>
            </a:r>
            <a:r>
              <a:rPr sz="1150">
                <a:solidFill>
                  <a:srgbClr val="6B7686"/>
                </a:solidFill>
                <a:latin typeface="Calibri"/>
              </a:rPr>
              <a:t>  Let's Encrypt / internal CA —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828800"/>
            <a:ext cx="3611880" cy="82296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476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Build (one-time)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231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3–4 mo</a:t>
            </a:r>
            <a:r>
              <a:rPr sz="1100" b="0">
                <a:solidFill>
                  <a:srgbClr val="F2F5FA"/>
                </a:solidFill>
                <a:latin typeface="Calibri"/>
              </a:rPr>
              <a:t> 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80360"/>
            <a:ext cx="310896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Effort</a:t>
            </a:r>
            <a:r>
              <a:rPr sz="1150">
                <a:solidFill>
                  <a:srgbClr val="6B7686"/>
                </a:solidFill>
                <a:latin typeface="Calibri"/>
              </a:rPr>
              <a:t>  ~2–3 developers, part-time BA &amp; QA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Cost driver</a:t>
            </a:r>
            <a:r>
              <a:rPr sz="1150">
                <a:solidFill>
                  <a:srgbClr val="6B7686"/>
                </a:solidFill>
                <a:latin typeface="Calibri"/>
              </a:rPr>
              <a:t>  personnel only — apply local rates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Deliverable</a:t>
            </a:r>
            <a:r>
              <a:rPr sz="1150">
                <a:solidFill>
                  <a:srgbClr val="6B7686"/>
                </a:solidFill>
                <a:latin typeface="Calibri"/>
              </a:rPr>
              <a:t>  deployed system + docs + handover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9E8F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Basis</a:t>
            </a:r>
            <a:r>
              <a:rPr sz="1150">
                <a:solidFill>
                  <a:srgbClr val="6B7686"/>
                </a:solidFill>
                <a:latin typeface="Calibri"/>
              </a:rPr>
              <a:t>  codebase already substantially built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828800"/>
            <a:ext cx="3611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828800"/>
            <a:ext cx="3611880" cy="822960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9" y="19476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Run &amp; maintain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231136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≈ 0.25</a:t>
            </a:r>
            <a:r>
              <a:rPr sz="1100" b="0">
                <a:solidFill>
                  <a:srgbClr val="F2F5FA"/>
                </a:solidFill>
                <a:latin typeface="Calibri"/>
              </a:rPr>
              <a:t> 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9" y="2880360"/>
            <a:ext cx="310896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Ongoing</a:t>
            </a:r>
            <a:r>
              <a:rPr sz="1150">
                <a:solidFill>
                  <a:srgbClr val="6B7686"/>
                </a:solidFill>
                <a:latin typeface="Calibri"/>
              </a:rPr>
              <a:t>  1 person part-time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Work</a:t>
            </a:r>
            <a:r>
              <a:rPr sz="1150">
                <a:solidFill>
                  <a:srgbClr val="6B7686"/>
                </a:solidFill>
                <a:latin typeface="Calibri"/>
              </a:rPr>
              <a:t>  updates, backups check, small changes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Tooling</a:t>
            </a:r>
            <a:r>
              <a:rPr sz="1150">
                <a:solidFill>
                  <a:srgbClr val="6B7686"/>
                </a:solidFill>
                <a:latin typeface="Calibri"/>
              </a:rPr>
              <a:t>  free — same open-source stack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23A6B"/>
                </a:solidFill>
                <a:latin typeface="Calibri"/>
              </a:rPr>
              <a:t>—  </a:t>
            </a:r>
            <a:r>
              <a:rPr sz="1150" b="1">
                <a:solidFill>
                  <a:srgbClr val="0F1E33"/>
                </a:solidFill>
                <a:latin typeface="Calibri"/>
              </a:rPr>
              <a:t>Scale</a:t>
            </a:r>
            <a:r>
              <a:rPr sz="1150">
                <a:solidFill>
                  <a:srgbClr val="6B7686"/>
                </a:solidFill>
                <a:latin typeface="Calibri"/>
              </a:rPr>
              <a:t>  grows to full ITSM, no new licences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RESOURCING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Team — how many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070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23A6B"/>
                </a:solidFill>
                <a:latin typeface="Calibri"/>
              </a:rPr>
              <a:t>Lean by design. </a:t>
            </a:r>
            <a:r>
              <a:rPr sz="1450" b="0">
                <a:solidFill>
                  <a:srgbClr val="0F1E33"/>
                </a:solidFill>
                <a:latin typeface="Calibri"/>
              </a:rPr>
              <a:t>Minimum viable team of 2; recommended 3–4 for comfortable delivery and QA. Roles can double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8229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128016" cy="749808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0391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A6B"/>
                </a:solidFill>
                <a:latin typeface="Calibri"/>
              </a:rPr>
              <a:t>Project Lead / 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40864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Requirements, stakeholder sign-off, UAT coordination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121408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0.5 FTE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79776"/>
            <a:ext cx="8229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779776"/>
            <a:ext cx="128016" cy="749808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986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A6B"/>
                </a:solidFill>
                <a:latin typeface="Calibri"/>
              </a:rPr>
              <a:t>Backend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Node/TypeScript API, PostgreSQL, workflow &amp; audit logic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2980944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1.0 FTE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39312"/>
            <a:ext cx="8229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639312"/>
            <a:ext cx="128016" cy="749808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7581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A6B"/>
                </a:solidFill>
                <a:latin typeface="Calibri"/>
              </a:rPr>
              <a:t>Flutter Developer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59936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Web UI, pipeline &amp; dashboard, charts (can be full-stack)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3840480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1.0 FTE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98848"/>
            <a:ext cx="8229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4498848"/>
            <a:ext cx="128016" cy="749808"/>
          </a:xfrm>
          <a:prstGeom prst="roundRect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177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A6B"/>
                </a:solidFill>
                <a:latin typeface="Calibri"/>
              </a:rPr>
              <a:t>QA / Tester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1947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Test cases, UAT, data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700016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0.5 FTE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358384"/>
            <a:ext cx="8229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5358384"/>
            <a:ext cx="128016" cy="749808"/>
          </a:xfrm>
          <a:prstGeom prst="roundRect">
            <a:avLst/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47725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3A6B"/>
                </a:solidFill>
                <a:latin typeface="Calibri"/>
              </a:rPr>
              <a:t>DevOps (part-time)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779008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686"/>
                </a:solidFill>
                <a:latin typeface="Calibri"/>
              </a:rPr>
              <a:t>Docker deployment, backups, TLS — often the same backend dev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11880" y="555955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6B7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0.25 FTE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1920240"/>
            <a:ext cx="2697480" cy="4114800"/>
          </a:xfrm>
          <a:prstGeom prst="roundRect">
            <a:avLst/>
          </a:prstGeom>
          <a:solidFill>
            <a:srgbClr val="123A6B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148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Headcount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26517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29E8F"/>
                </a:solidFill>
                <a:latin typeface="Calibri"/>
              </a:rPr>
              <a:t>2</a:t>
            </a:r>
            <a:r>
              <a:rPr sz="1400" b="0">
                <a:solidFill>
                  <a:srgbClr val="F2F5FA"/>
                </a:solidFill>
                <a:latin typeface="Calibri"/>
              </a:rPr>
              <a:t> 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342900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3–4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0690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recommended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61772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F2F5FA"/>
                </a:solidFill>
                <a:latin typeface="Calibri"/>
              </a:rPr>
              <a:t>≈ 3.25 FTE peak during build, dropping to 0.25 FTE to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9E8F"/>
                </a:solidFill>
                <a:latin typeface="Calibri"/>
              </a:rP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2336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23A6B"/>
                </a:solidFill>
                <a:latin typeface="Calibri"/>
              </a:rPr>
              <a:t>Phased rollout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65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3DCE8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9264"/>
            <a:ext cx="11201400" cy="1778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926080"/>
            <a:ext cx="10607040" cy="38100"/>
          </a:xfrm>
          <a:prstGeom prst="rect">
            <a:avLst/>
          </a:prstGeom>
          <a:solidFill>
            <a:srgbClr val="D3D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91640" y="2761488"/>
            <a:ext cx="365760" cy="365760"/>
          </a:xfrm>
          <a:prstGeom prst="ellipse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338328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3383280"/>
            <a:ext cx="2651760" cy="6858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1  ·  Weeks 1–2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Setup &amp; sign-off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Confirm requirements, provision VM, deploy skeleton stack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2761488"/>
            <a:ext cx="365760" cy="365760"/>
          </a:xfrm>
          <a:prstGeom prst="ellipse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6160" y="338328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66160" y="3383280"/>
            <a:ext cx="2651760" cy="685800"/>
          </a:xfrm>
          <a:prstGeom prst="roundRect">
            <a:avLst/>
          </a:prstGeom>
          <a:solidFill>
            <a:srgbClr val="1E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3474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2  ·  Weeks 3–7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749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Core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2976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Tickets, workflow pipeline, approvals, printer &amp; vendor registers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761488"/>
            <a:ext cx="365760" cy="365760"/>
          </a:xfrm>
          <a:prstGeom prst="ellipse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338328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3383280"/>
            <a:ext cx="2651760" cy="685800"/>
          </a:xfrm>
          <a:prstGeom prst="roundRect">
            <a:avLst/>
          </a:prstGeom>
          <a:solidFill>
            <a:srgbClr val="E09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474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3  ·  Weeks 8–10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749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Dashboard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976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Pending/completed graphs, audit log, reports &amp; exports</a:t>
            </a:r>
          </a:p>
        </p:txBody>
      </p:sp>
      <p:sp>
        <p:nvSpPr>
          <p:cNvPr id="28" name="Oval 27"/>
          <p:cNvSpPr/>
          <p:nvPr/>
        </p:nvSpPr>
        <p:spPr>
          <a:xfrm>
            <a:off x="10607040" y="2761488"/>
            <a:ext cx="365760" cy="365760"/>
          </a:xfrm>
          <a:prstGeom prst="ellipse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09760" y="3383280"/>
            <a:ext cx="26517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0" y="3383280"/>
            <a:ext cx="2651760" cy="685800"/>
          </a:xfrm>
          <a:prstGeom prst="roundRect">
            <a:avLst/>
          </a:prstGeom>
          <a:solidFill>
            <a:srgbClr val="12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3474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Phase 4  ·  Weeks 11–13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7490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UAT &amp; 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4297680"/>
            <a:ext cx="2194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686"/>
                </a:solidFill>
                <a:latin typeface="Calibri"/>
              </a:rPr>
              <a:t>User testing, training, data import, production cutover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1E33"/>
                </a:solidFill>
                <a:latin typeface="Calibri"/>
              </a:rPr>
              <a:t>Indicative — ~3 months to production. The existing codebase means Phase 2 starts from a working base, not a blank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E8F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Approve build on the open-source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688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100% open-source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529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$0 in software licences — Flutter, Node, PostgreSQL, Docker, Linux.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2860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22860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Runs on our own servers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529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One modest VM; data never leaves the ministry.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2860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91856" y="22860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4688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Pipeline for everyone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8529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Every ICT user sees where a request is stuck — fixed fast.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8862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069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Audit &amp;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4531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Pending vs completed, graphs, and a full immutable trail.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38862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7408" y="38862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069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Lean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531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2 minimum, 3–4 recommended; ~3 months to go-live.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886200"/>
            <a:ext cx="3401568" cy="137160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91856" y="3886200"/>
            <a:ext cx="91440" cy="1371600"/>
          </a:xfrm>
          <a:prstGeom prst="roundRect">
            <a:avLst/>
          </a:prstGeom>
          <a:solidFill>
            <a:srgbClr val="12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069080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Low run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453128"/>
            <a:ext cx="29443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2F5FA"/>
                </a:solidFill>
                <a:latin typeface="Calibri"/>
              </a:rPr>
              <a:t>≈ 0.25 FTE and near-zero hosting to keep it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989320"/>
            <a:ext cx="10515600" cy="548640"/>
          </a:xfrm>
          <a:prstGeom prst="roundRect">
            <a:avLst/>
          </a:prstGeom>
          <a:solidFill>
            <a:srgbClr val="1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60899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9E8F"/>
                </a:solidFill>
                <a:latin typeface="Calibri"/>
              </a:rPr>
              <a:t>Next step:  </a:t>
            </a:r>
            <a:r>
              <a:rPr sz="1400" b="0">
                <a:solidFill>
                  <a:srgbClr val="FFFFFF"/>
                </a:solidFill>
                <a:latin typeface="Calibri"/>
              </a:rPr>
              <a:t>sign-off to begin Phase 1 — provisioning and requirements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